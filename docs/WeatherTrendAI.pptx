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64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6" r:id="rId9"/>
    <p:sldId id="267" r:id="rId10"/>
    <p:sldId id="268" r:id="rId11"/>
    <p:sldId id="269" r:id="rId12"/>
    <p:sldId id="270" r:id="rId13"/>
    <p:sldId id="271" r:id="rId14"/>
    <p:sldId id="263" r:id="rId15"/>
    <p:sldId id="264" r:id="rId16"/>
    <p:sldId id="265" r:id="rId17"/>
  </p:sldIdLst>
  <p:sldSz cx="9144000" cy="5143500" type="screen16x9"/>
  <p:notesSz cx="5143500" cy="9144000"/>
  <p:embeddedFontLst>
    <p:embeddedFont>
      <p:font typeface="Poppins Light" panose="00000400000000000000" pitchFamily="2" charset="0"/>
      <p:regular r:id="rId19"/>
    </p:embeddedFont>
    <p:embeddedFont>
      <p:font typeface="Roboto Bold" panose="020B0604020202020204" charset="0"/>
      <p:regular r:id="rId20"/>
    </p:embeddedFont>
    <p:embeddedFont>
      <p:font typeface="Roboto Light" panose="02000000000000000000" pitchFamily="2" charset="0"/>
      <p:regular r:id="rId21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173" autoAdjust="0"/>
  </p:normalViewPr>
  <p:slideViewPr>
    <p:cSldViewPr snapToGrid="0" snapToObjects="1">
      <p:cViewPr varScale="1">
        <p:scale>
          <a:sx n="88" d="100"/>
          <a:sy n="88" d="100"/>
        </p:scale>
        <p:origin x="87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879142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7/6/2026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6878431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7/6/2026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822703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7/6/2026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2718754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7/6/2026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8955489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7/6/2026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885990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7/6/2026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6796722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7/6/2026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6119768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7/6/2026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7952550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7/6/2026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5085484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7/6/2026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9722019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7/6/2026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3248726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246303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7/6/2026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142072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5" r:id="rId1"/>
    <p:sldLayoutId id="2147483666" r:id="rId2"/>
    <p:sldLayoutId id="2147483667" r:id="rId3"/>
    <p:sldLayoutId id="2147483668" r:id="rId4"/>
    <p:sldLayoutId id="2147483669" r:id="rId5"/>
    <p:sldLayoutId id="2147483670" r:id="rId6"/>
    <p:sldLayoutId id="2147483671" r:id="rId7"/>
    <p:sldLayoutId id="2147483672" r:id="rId8"/>
    <p:sldLayoutId id="2147483673" r:id="rId9"/>
    <p:sldLayoutId id="2147483674" r:id="rId10"/>
    <p:sldLayoutId id="2147483675" r:id="rId11"/>
    <p:sldLayoutId id="2147483676" r:id="rId12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.svg"/><Relationship Id="rId7" Type="http://schemas.openxmlformats.org/officeDocument/2006/relationships/image" Target="../media/image5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svg"/><Relationship Id="rId11" Type="http://schemas.openxmlformats.org/officeDocument/2006/relationships/image" Target="../media/image9.svg"/><Relationship Id="rId5" Type="http://schemas.openxmlformats.org/officeDocument/2006/relationships/image" Target="../media/image3.svg"/><Relationship Id="rId10" Type="http://schemas.openxmlformats.org/officeDocument/2006/relationships/image" Target="../media/image8.svg"/><Relationship Id="rId4" Type="http://schemas.openxmlformats.org/officeDocument/2006/relationships/image" Target="../media/image2.svg"/><Relationship Id="rId9" Type="http://schemas.openxmlformats.org/officeDocument/2006/relationships/image" Target="../media/image7.sv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7" Type="http://schemas.openxmlformats.org/officeDocument/2006/relationships/image" Target="../media/image14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3.svg"/><Relationship Id="rId5" Type="http://schemas.openxmlformats.org/officeDocument/2006/relationships/image" Target="../media/image12.svg"/><Relationship Id="rId4" Type="http://schemas.openxmlformats.org/officeDocument/2006/relationships/image" Target="../media/image11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2.png"/><Relationship Id="rId4" Type="http://schemas.openxmlformats.org/officeDocument/2006/relationships/image" Target="../media/image21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20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20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svg"/><Relationship Id="rId2" Type="http://schemas.openxmlformats.org/officeDocument/2006/relationships/image" Target="../media/image20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svg"/><Relationship Id="rId2" Type="http://schemas.openxmlformats.org/officeDocument/2006/relationships/image" Target="../media/image20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svg"/><Relationship Id="rId2" Type="http://schemas.openxmlformats.org/officeDocument/2006/relationships/image" Target="../media/image20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svg"/><Relationship Id="rId2" Type="http://schemas.openxmlformats.org/officeDocument/2006/relationships/image" Target="../media/image20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svg"/><Relationship Id="rId7" Type="http://schemas.openxmlformats.org/officeDocument/2006/relationships/image" Target="../media/image40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9.svg"/><Relationship Id="rId5" Type="http://schemas.openxmlformats.org/officeDocument/2006/relationships/image" Target="../media/image38.svg"/><Relationship Id="rId4" Type="http://schemas.openxmlformats.org/officeDocument/2006/relationships/image" Target="../media/image37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svg"/><Relationship Id="rId3" Type="http://schemas.openxmlformats.org/officeDocument/2006/relationships/image" Target="../media/image42.svg"/><Relationship Id="rId7" Type="http://schemas.openxmlformats.org/officeDocument/2006/relationships/image" Target="../media/image46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5.svg"/><Relationship Id="rId11" Type="http://schemas.openxmlformats.org/officeDocument/2006/relationships/hyperlink" Target="https://github.com/ns-niam/WeatherTrendAI" TargetMode="External"/><Relationship Id="rId5" Type="http://schemas.openxmlformats.org/officeDocument/2006/relationships/image" Target="../media/image44.svg"/><Relationship Id="rId10" Type="http://schemas.openxmlformats.org/officeDocument/2006/relationships/image" Target="../media/image49.svg"/><Relationship Id="rId4" Type="http://schemas.openxmlformats.org/officeDocument/2006/relationships/image" Target="../media/image43.svg"/><Relationship Id="rId9" Type="http://schemas.openxmlformats.org/officeDocument/2006/relationships/image" Target="../media/image4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813643"/>
            <a:ext cx="40013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WeatherTrendAI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469231"/>
            <a:ext cx="8151763" cy="1222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8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End-to-End Data Science &amp; Machine Learning Platform</a:t>
            </a:r>
            <a:endParaRPr lang="en-US" sz="3850" dirty="0"/>
          </a:p>
        </p:txBody>
      </p:sp>
      <p:sp>
        <p:nvSpPr>
          <p:cNvPr id="4" name="Text 2"/>
          <p:cNvSpPr/>
          <p:nvPr/>
        </p:nvSpPr>
        <p:spPr>
          <a:xfrm>
            <a:off x="496119" y="2904604"/>
            <a:ext cx="8151763" cy="9993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250"/>
              </a:spcAft>
              <a:buNone/>
            </a:pPr>
            <a:r>
              <a:rPr lang="en-US" sz="11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For Weather Forecasting, Predictive Analytics and Interactive Visualization.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Built using:</a:t>
            </a:r>
            <a:r>
              <a:rPr lang="en-US" sz="11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Python, Pandas, NumPy, Scikit-learn, Random Forest, XGBoost, LightGBM, Prophet, FastAPI, Streamlit, Plotly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Presented by:</a:t>
            </a:r>
            <a:r>
              <a:rPr lang="en-US" sz="11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</a:t>
            </a:r>
            <a:r>
              <a:rPr lang="en-US" sz="1200" b="1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Md. Sha Niamatullah ( Ns Niam )</a:t>
            </a:r>
            <a:endParaRPr lang="en-US" sz="1100" b="1" dirty="0"/>
          </a:p>
        </p:txBody>
      </p:sp>
      <p:sp>
        <p:nvSpPr>
          <p:cNvPr id="5" name="Shape 3"/>
          <p:cNvSpPr/>
          <p:nvPr/>
        </p:nvSpPr>
        <p:spPr>
          <a:xfrm>
            <a:off x="496119" y="4063454"/>
            <a:ext cx="3368055" cy="266402"/>
          </a:xfrm>
          <a:prstGeom prst="roundRect">
            <a:avLst>
              <a:gd name="adj" fmla="val 17880"/>
            </a:avLst>
          </a:prstGeom>
          <a:noFill/>
          <a:ln/>
          <a:effectLst>
            <a:outerShdw blurRad="101600" dist="50800" dir="16200000" algn="bl" rotWithShape="0">
              <a:srgbClr val="F2F2F3">
                <a:alpha val="10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496118" y="4116586"/>
            <a:ext cx="6295207" cy="6459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F2F2F3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PM ACCELERATOR AI ENGINEERING TECHNICAL ASSESSMENT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89855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Project Overview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496119" y="682154"/>
            <a:ext cx="8151763" cy="2099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5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WeatherTrendAI is an end-to-end data science and machine learning application designed to analyze historical weather data, predict weather conditions, forecast future trends, and provide interactive predictions through a Streamlit dashboard and FastAPI REST API.</a:t>
            </a:r>
            <a:endParaRPr lang="en-US" sz="5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Mention the complete ML workflow:</a:t>
            </a:r>
            <a:endParaRPr lang="en-US" sz="550" dirty="0"/>
          </a:p>
        </p:txBody>
      </p:sp>
      <p:sp>
        <p:nvSpPr>
          <p:cNvPr id="4" name="Shape 2"/>
          <p:cNvSpPr/>
          <p:nvPr/>
        </p:nvSpPr>
        <p:spPr>
          <a:xfrm>
            <a:off x="496119" y="931887"/>
            <a:ext cx="283518" cy="425276"/>
          </a:xfrm>
          <a:prstGeom prst="roundRect">
            <a:avLst>
              <a:gd name="adj" fmla="val 360022"/>
            </a:avLst>
          </a:prstGeom>
          <a:solidFill>
            <a:srgbClr val="3D3D42"/>
          </a:solidFill>
          <a:ln w="4763">
            <a:solidFill>
              <a:srgbClr val="56565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84746" y="1091357"/>
            <a:ext cx="106263" cy="10626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15057" y="1002729"/>
            <a:ext cx="885974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Data Cleaning</a:t>
            </a:r>
            <a:endParaRPr lang="en-US" sz="650" dirty="0"/>
          </a:p>
        </p:txBody>
      </p:sp>
      <p:sp>
        <p:nvSpPr>
          <p:cNvPr id="7" name="Shape 4"/>
          <p:cNvSpPr/>
          <p:nvPr/>
        </p:nvSpPr>
        <p:spPr>
          <a:xfrm>
            <a:off x="496119" y="1392585"/>
            <a:ext cx="283518" cy="425276"/>
          </a:xfrm>
          <a:prstGeom prst="roundRect">
            <a:avLst>
              <a:gd name="adj" fmla="val 360022"/>
            </a:avLst>
          </a:prstGeom>
          <a:solidFill>
            <a:srgbClr val="3D3D42"/>
          </a:solidFill>
          <a:ln w="4763">
            <a:solidFill>
              <a:srgbClr val="56565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84746" y="1552054"/>
            <a:ext cx="106263" cy="106263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15057" y="1463427"/>
            <a:ext cx="885974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Feature Engineering</a:t>
            </a:r>
            <a:endParaRPr lang="en-US" sz="650" dirty="0"/>
          </a:p>
        </p:txBody>
      </p:sp>
      <p:sp>
        <p:nvSpPr>
          <p:cNvPr id="10" name="Shape 6"/>
          <p:cNvSpPr/>
          <p:nvPr/>
        </p:nvSpPr>
        <p:spPr>
          <a:xfrm>
            <a:off x="496119" y="1853282"/>
            <a:ext cx="283518" cy="425276"/>
          </a:xfrm>
          <a:prstGeom prst="roundRect">
            <a:avLst>
              <a:gd name="adj" fmla="val 360022"/>
            </a:avLst>
          </a:prstGeom>
          <a:solidFill>
            <a:srgbClr val="3D3D42"/>
          </a:solidFill>
          <a:ln w="4763">
            <a:solidFill>
              <a:srgbClr val="56565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84746" y="2012752"/>
            <a:ext cx="106263" cy="106263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15057" y="1924124"/>
            <a:ext cx="1097533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Exploratory Data Analysis</a:t>
            </a:r>
            <a:endParaRPr lang="en-US" sz="650" dirty="0"/>
          </a:p>
        </p:txBody>
      </p:sp>
      <p:sp>
        <p:nvSpPr>
          <p:cNvPr id="13" name="Shape 8"/>
          <p:cNvSpPr/>
          <p:nvPr/>
        </p:nvSpPr>
        <p:spPr>
          <a:xfrm>
            <a:off x="496119" y="2313980"/>
            <a:ext cx="283518" cy="425276"/>
          </a:xfrm>
          <a:prstGeom prst="roundRect">
            <a:avLst>
              <a:gd name="adj" fmla="val 360022"/>
            </a:avLst>
          </a:prstGeom>
          <a:solidFill>
            <a:srgbClr val="3D3D42"/>
          </a:solidFill>
          <a:ln w="4763">
            <a:solidFill>
              <a:srgbClr val="56565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84746" y="2473449"/>
            <a:ext cx="106263" cy="106263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815057" y="2384822"/>
            <a:ext cx="885974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Multiple ML Models</a:t>
            </a:r>
            <a:endParaRPr lang="en-US" sz="650" dirty="0"/>
          </a:p>
        </p:txBody>
      </p:sp>
      <p:sp>
        <p:nvSpPr>
          <p:cNvPr id="16" name="Shape 10"/>
          <p:cNvSpPr/>
          <p:nvPr/>
        </p:nvSpPr>
        <p:spPr>
          <a:xfrm>
            <a:off x="496119" y="2774677"/>
            <a:ext cx="283518" cy="425276"/>
          </a:xfrm>
          <a:prstGeom prst="roundRect">
            <a:avLst>
              <a:gd name="adj" fmla="val 360022"/>
            </a:avLst>
          </a:prstGeom>
          <a:solidFill>
            <a:srgbClr val="3D3D42"/>
          </a:solidFill>
          <a:ln w="4763">
            <a:solidFill>
              <a:srgbClr val="56565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84746" y="2934146"/>
            <a:ext cx="106263" cy="106263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815057" y="2845519"/>
            <a:ext cx="885974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Model Comparison</a:t>
            </a:r>
            <a:endParaRPr lang="en-US" sz="650" dirty="0"/>
          </a:p>
        </p:txBody>
      </p:sp>
      <p:sp>
        <p:nvSpPr>
          <p:cNvPr id="19" name="Shape 12"/>
          <p:cNvSpPr/>
          <p:nvPr/>
        </p:nvSpPr>
        <p:spPr>
          <a:xfrm>
            <a:off x="496119" y="3235375"/>
            <a:ext cx="283518" cy="425276"/>
          </a:xfrm>
          <a:prstGeom prst="roundRect">
            <a:avLst>
              <a:gd name="adj" fmla="val 360022"/>
            </a:avLst>
          </a:prstGeom>
          <a:solidFill>
            <a:srgbClr val="3D3D42"/>
          </a:solidFill>
          <a:ln w="4763">
            <a:solidFill>
              <a:srgbClr val="56565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84746" y="3394844"/>
            <a:ext cx="106263" cy="106263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815057" y="3306217"/>
            <a:ext cx="885974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Forecasting</a:t>
            </a:r>
            <a:endParaRPr lang="en-US" sz="650" dirty="0"/>
          </a:p>
        </p:txBody>
      </p:sp>
      <p:sp>
        <p:nvSpPr>
          <p:cNvPr id="22" name="Shape 14"/>
          <p:cNvSpPr/>
          <p:nvPr/>
        </p:nvSpPr>
        <p:spPr>
          <a:xfrm>
            <a:off x="496119" y="3696072"/>
            <a:ext cx="283518" cy="425276"/>
          </a:xfrm>
          <a:prstGeom prst="roundRect">
            <a:avLst>
              <a:gd name="adj" fmla="val 360022"/>
            </a:avLst>
          </a:prstGeom>
          <a:solidFill>
            <a:srgbClr val="3D3D42"/>
          </a:solidFill>
          <a:ln w="4763">
            <a:solidFill>
              <a:srgbClr val="56565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23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84746" y="3855541"/>
            <a:ext cx="106263" cy="106263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815057" y="3766914"/>
            <a:ext cx="885974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Dashboard</a:t>
            </a:r>
            <a:endParaRPr lang="en-US" sz="650" dirty="0"/>
          </a:p>
        </p:txBody>
      </p:sp>
      <p:sp>
        <p:nvSpPr>
          <p:cNvPr id="25" name="Shape 16"/>
          <p:cNvSpPr/>
          <p:nvPr/>
        </p:nvSpPr>
        <p:spPr>
          <a:xfrm>
            <a:off x="496119" y="4156770"/>
            <a:ext cx="283518" cy="425276"/>
          </a:xfrm>
          <a:prstGeom prst="roundRect">
            <a:avLst>
              <a:gd name="adj" fmla="val 360022"/>
            </a:avLst>
          </a:prstGeom>
          <a:solidFill>
            <a:srgbClr val="3D3D42"/>
          </a:solidFill>
          <a:ln w="4763">
            <a:solidFill>
              <a:srgbClr val="56565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26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84746" y="4316239"/>
            <a:ext cx="106263" cy="106263"/>
          </a:xfrm>
          <a:prstGeom prst="rect">
            <a:avLst/>
          </a:prstGeom>
        </p:spPr>
      </p:pic>
      <p:sp>
        <p:nvSpPr>
          <p:cNvPr id="27" name="Text 17"/>
          <p:cNvSpPr/>
          <p:nvPr/>
        </p:nvSpPr>
        <p:spPr>
          <a:xfrm>
            <a:off x="815057" y="4227612"/>
            <a:ext cx="885974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REST API</a:t>
            </a:r>
            <a:endParaRPr lang="en-US" sz="650" dirty="0"/>
          </a:p>
        </p:txBody>
      </p:sp>
      <p:sp>
        <p:nvSpPr>
          <p:cNvPr id="28" name="Shape 18"/>
          <p:cNvSpPr/>
          <p:nvPr/>
        </p:nvSpPr>
        <p:spPr>
          <a:xfrm>
            <a:off x="496119" y="4617467"/>
            <a:ext cx="283518" cy="425276"/>
          </a:xfrm>
          <a:prstGeom prst="roundRect">
            <a:avLst>
              <a:gd name="adj" fmla="val 360022"/>
            </a:avLst>
          </a:prstGeom>
          <a:solidFill>
            <a:srgbClr val="3D3D42"/>
          </a:solidFill>
          <a:ln w="4763">
            <a:solidFill>
              <a:srgbClr val="56565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29" name="Image 8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84746" y="4776936"/>
            <a:ext cx="106263" cy="106263"/>
          </a:xfrm>
          <a:prstGeom prst="rect">
            <a:avLst/>
          </a:prstGeom>
        </p:spPr>
      </p:pic>
      <p:sp>
        <p:nvSpPr>
          <p:cNvPr id="30" name="Text 19"/>
          <p:cNvSpPr/>
          <p:nvPr/>
        </p:nvSpPr>
        <p:spPr>
          <a:xfrm>
            <a:off x="815057" y="4688309"/>
            <a:ext cx="885974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Automated Testing</a:t>
            </a:r>
            <a:endParaRPr lang="en-US" sz="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300535"/>
            <a:ext cx="40013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Dataset</a:t>
            </a:r>
            <a:endParaRPr lang="en-US" sz="2750" dirty="0"/>
          </a:p>
        </p:txBody>
      </p:sp>
      <p:sp>
        <p:nvSpPr>
          <p:cNvPr id="3" name="Shape 1"/>
          <p:cNvSpPr/>
          <p:nvPr/>
        </p:nvSpPr>
        <p:spPr>
          <a:xfrm>
            <a:off x="394022" y="1956122"/>
            <a:ext cx="4107135" cy="1886843"/>
          </a:xfrm>
          <a:prstGeom prst="roundRect">
            <a:avLst>
              <a:gd name="adj" fmla="val 5410"/>
            </a:avLst>
          </a:prstGeom>
          <a:solidFill>
            <a:srgbClr val="F2F2F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535781" y="2097881"/>
            <a:ext cx="359784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Global Weather Repository (Kaggle)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35781" y="2461096"/>
            <a:ext cx="3823618" cy="7795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151,047+ weather records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Global weather observations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40+ original features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749701" y="2097881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Preprocessing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749701" y="2461096"/>
            <a:ext cx="3902943" cy="1332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Missing value handling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Duplicate removal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Datetime processing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Feature scaling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Validation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69801"/>
            <a:ext cx="40013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Feature Engineering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396305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Explain engineered features: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96119" y="1782589"/>
            <a:ext cx="2622724" cy="1081534"/>
          </a:xfrm>
          <a:prstGeom prst="roundRect">
            <a:avLst>
              <a:gd name="adj" fmla="val 5505"/>
            </a:avLst>
          </a:prstGeom>
          <a:solidFill>
            <a:srgbClr val="3D3D42"/>
          </a:solidFill>
          <a:ln w="4763">
            <a:solidFill>
              <a:srgbClr val="56565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642640" y="1929110"/>
            <a:ext cx="425276" cy="425276"/>
          </a:xfrm>
          <a:prstGeom prst="ellipse">
            <a:avLst/>
          </a:prstGeom>
          <a:solidFill>
            <a:srgbClr val="F2F2F3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9619" y="2046015"/>
            <a:ext cx="191319" cy="19131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2640" y="2496145"/>
            <a:ext cx="209058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Temperature Difference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3260601" y="1782589"/>
            <a:ext cx="2622724" cy="1081534"/>
          </a:xfrm>
          <a:prstGeom prst="roundRect">
            <a:avLst>
              <a:gd name="adj" fmla="val 5505"/>
            </a:avLst>
          </a:prstGeom>
          <a:solidFill>
            <a:srgbClr val="3D3D42"/>
          </a:solidFill>
          <a:ln w="4763">
            <a:solidFill>
              <a:srgbClr val="56565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Shape 6"/>
          <p:cNvSpPr/>
          <p:nvPr/>
        </p:nvSpPr>
        <p:spPr>
          <a:xfrm>
            <a:off x="3407122" y="1929110"/>
            <a:ext cx="425276" cy="425276"/>
          </a:xfrm>
          <a:prstGeom prst="ellipse">
            <a:avLst/>
          </a:prstGeom>
          <a:solidFill>
            <a:srgbClr val="F2F2F3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524101" y="2046015"/>
            <a:ext cx="191319" cy="191319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407122" y="2496145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Air Quality Score</a:t>
            </a:r>
            <a:endParaRPr lang="en-US" sz="1350" dirty="0"/>
          </a:p>
        </p:txBody>
      </p:sp>
      <p:sp>
        <p:nvSpPr>
          <p:cNvPr id="12" name="Shape 8"/>
          <p:cNvSpPr/>
          <p:nvPr/>
        </p:nvSpPr>
        <p:spPr>
          <a:xfrm>
            <a:off x="6025083" y="1782589"/>
            <a:ext cx="2622724" cy="1081534"/>
          </a:xfrm>
          <a:prstGeom prst="roundRect">
            <a:avLst>
              <a:gd name="adj" fmla="val 5505"/>
            </a:avLst>
          </a:prstGeom>
          <a:solidFill>
            <a:srgbClr val="3D3D42"/>
          </a:solidFill>
          <a:ln w="4763">
            <a:solidFill>
              <a:srgbClr val="56565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Shape 9"/>
          <p:cNvSpPr/>
          <p:nvPr/>
        </p:nvSpPr>
        <p:spPr>
          <a:xfrm>
            <a:off x="6171605" y="1929110"/>
            <a:ext cx="425276" cy="425276"/>
          </a:xfrm>
          <a:prstGeom prst="ellipse">
            <a:avLst/>
          </a:prstGeom>
          <a:solidFill>
            <a:srgbClr val="F2F2F3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88584" y="2046015"/>
            <a:ext cx="191319" cy="191319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171605" y="2496145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Weather Severity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496119" y="3005882"/>
            <a:ext cx="4004965" cy="1081534"/>
          </a:xfrm>
          <a:prstGeom prst="roundRect">
            <a:avLst>
              <a:gd name="adj" fmla="val 5505"/>
            </a:avLst>
          </a:prstGeom>
          <a:solidFill>
            <a:srgbClr val="3D3D42"/>
          </a:solidFill>
          <a:ln w="4763">
            <a:solidFill>
              <a:srgbClr val="56565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Shape 12"/>
          <p:cNvSpPr/>
          <p:nvPr/>
        </p:nvSpPr>
        <p:spPr>
          <a:xfrm>
            <a:off x="642640" y="3152403"/>
            <a:ext cx="425276" cy="425276"/>
          </a:xfrm>
          <a:prstGeom prst="ellipse">
            <a:avLst/>
          </a:prstGeom>
          <a:solidFill>
            <a:srgbClr val="F2F2F3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59619" y="3269307"/>
            <a:ext cx="191319" cy="191319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42640" y="3719438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Date Features</a:t>
            </a:r>
            <a:endParaRPr lang="en-US" sz="1350" dirty="0"/>
          </a:p>
        </p:txBody>
      </p:sp>
      <p:sp>
        <p:nvSpPr>
          <p:cNvPr id="20" name="Shape 14"/>
          <p:cNvSpPr/>
          <p:nvPr/>
        </p:nvSpPr>
        <p:spPr>
          <a:xfrm>
            <a:off x="4642842" y="3005882"/>
            <a:ext cx="4004965" cy="1081534"/>
          </a:xfrm>
          <a:prstGeom prst="roundRect">
            <a:avLst>
              <a:gd name="adj" fmla="val 5505"/>
            </a:avLst>
          </a:prstGeom>
          <a:solidFill>
            <a:srgbClr val="3D3D42"/>
          </a:solidFill>
          <a:ln w="4763">
            <a:solidFill>
              <a:srgbClr val="56565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Shape 15"/>
          <p:cNvSpPr/>
          <p:nvPr/>
        </p:nvSpPr>
        <p:spPr>
          <a:xfrm>
            <a:off x="4789363" y="3152403"/>
            <a:ext cx="425276" cy="425276"/>
          </a:xfrm>
          <a:prstGeom prst="ellipse">
            <a:avLst/>
          </a:prstGeom>
          <a:solidFill>
            <a:srgbClr val="F2F2F3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906342" y="3269307"/>
            <a:ext cx="191319" cy="191319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4789363" y="3719438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Time Features</a:t>
            </a:r>
            <a:endParaRPr lang="en-US" sz="1350" dirty="0"/>
          </a:p>
        </p:txBody>
      </p:sp>
      <p:sp>
        <p:nvSpPr>
          <p:cNvPr id="24" name="Text 17"/>
          <p:cNvSpPr/>
          <p:nvPr/>
        </p:nvSpPr>
        <p:spPr>
          <a:xfrm>
            <a:off x="496119" y="4246885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Show how feature engineering improved model performance.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994842"/>
            <a:ext cx="4909765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Machine Learning Models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792188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Models Evaluated</a:t>
            </a:r>
            <a:endParaRPr lang="en-US" sz="13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2173114"/>
            <a:ext cx="2092970" cy="54307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3127" y="2333923"/>
            <a:ext cx="169515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Linear Regression</a:t>
            </a:r>
            <a:endParaRPr lang="en-US" sz="13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730847" y="2173114"/>
            <a:ext cx="2093044" cy="54307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967856" y="2333923"/>
            <a:ext cx="169522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Random Forest</a:t>
            </a:r>
            <a:endParaRPr lang="en-US" sz="13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2857946"/>
            <a:ext cx="2092970" cy="543074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733127" y="3018755"/>
            <a:ext cx="169515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XGBoost</a:t>
            </a:r>
            <a:endParaRPr lang="en-US" sz="13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730847" y="2857946"/>
            <a:ext cx="2093044" cy="543074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2967856" y="3018755"/>
            <a:ext cx="169522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LightGBM</a:t>
            </a:r>
            <a:endParaRPr lang="en-US" sz="1350" dirty="0"/>
          </a:p>
        </p:txBody>
      </p:sp>
      <p:sp>
        <p:nvSpPr>
          <p:cNvPr id="12" name="Shape 6"/>
          <p:cNvSpPr/>
          <p:nvPr/>
        </p:nvSpPr>
        <p:spPr>
          <a:xfrm>
            <a:off x="5072435" y="1650429"/>
            <a:ext cx="3682231" cy="2498229"/>
          </a:xfrm>
          <a:prstGeom prst="roundRect">
            <a:avLst>
              <a:gd name="adj" fmla="val 4086"/>
            </a:avLst>
          </a:prstGeom>
          <a:solidFill>
            <a:srgbClr val="F2F2F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3" name="Text 7"/>
          <p:cNvSpPr/>
          <p:nvPr/>
        </p:nvSpPr>
        <p:spPr>
          <a:xfrm>
            <a:off x="5214193" y="1792188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Evaluation Metrics</a:t>
            </a:r>
            <a:endParaRPr lang="en-US" sz="1350" dirty="0"/>
          </a:p>
        </p:txBody>
      </p:sp>
      <p:sp>
        <p:nvSpPr>
          <p:cNvPr id="14" name="Text 8"/>
          <p:cNvSpPr/>
          <p:nvPr/>
        </p:nvSpPr>
        <p:spPr>
          <a:xfrm>
            <a:off x="5214193" y="2155403"/>
            <a:ext cx="3398713" cy="7795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MAE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RMSE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R² Score</a:t>
            </a:r>
            <a:endParaRPr lang="en-US" sz="1100" dirty="0"/>
          </a:p>
        </p:txBody>
      </p:sp>
      <p:sp>
        <p:nvSpPr>
          <p:cNvPr id="15" name="Text 9"/>
          <p:cNvSpPr/>
          <p:nvPr/>
        </p:nvSpPr>
        <p:spPr>
          <a:xfrm>
            <a:off x="5214193" y="3076724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Highlight</a:t>
            </a:r>
            <a:endParaRPr lang="en-US" sz="1350" dirty="0"/>
          </a:p>
        </p:txBody>
      </p:sp>
      <p:sp>
        <p:nvSpPr>
          <p:cNvPr id="16" name="Text 10"/>
          <p:cNvSpPr/>
          <p:nvPr/>
        </p:nvSpPr>
        <p:spPr>
          <a:xfrm>
            <a:off x="5214193" y="3439939"/>
            <a:ext cx="3398713" cy="5811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Best Model:</a:t>
            </a:r>
            <a:r>
              <a:rPr lang="en-US" sz="1100" dirty="0">
                <a:solidFill>
                  <a:srgbClr val="000000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Random Forest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Best R² Score:</a:t>
            </a:r>
            <a:r>
              <a:rPr lang="en-US" sz="1100" dirty="0">
                <a:solidFill>
                  <a:srgbClr val="000000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0.9506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581844"/>
            <a:ext cx="459186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Time Series Forecasting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3925119" y="1237431"/>
            <a:ext cx="5179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Explain Prophet Forecasting.</a:t>
            </a:r>
            <a:endParaRPr lang="en-US" sz="11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25119" y="1623715"/>
            <a:ext cx="708794" cy="850553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775671" y="1765474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Historical Trend</a:t>
            </a:r>
            <a:endParaRPr lang="en-US" sz="13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25119" y="2474268"/>
            <a:ext cx="708794" cy="850553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4775671" y="2616026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Future Forecast</a:t>
            </a:r>
            <a:endParaRPr lang="en-US" sz="1350" dirty="0"/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25119" y="3324820"/>
            <a:ext cx="708794" cy="850553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4775671" y="3466579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Time Series Analysis</a:t>
            </a:r>
            <a:endParaRPr lang="en-US" sz="1350" dirty="0"/>
          </a:p>
        </p:txBody>
      </p:sp>
      <p:sp>
        <p:nvSpPr>
          <p:cNvPr id="11" name="Text 5"/>
          <p:cNvSpPr/>
          <p:nvPr/>
        </p:nvSpPr>
        <p:spPr>
          <a:xfrm>
            <a:off x="3925119" y="4334842"/>
            <a:ext cx="5179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Mention Prophet was used separately from regression models.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50279"/>
            <a:ext cx="2340025" cy="2352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Dashboard</a:t>
            </a:r>
            <a:endParaRPr lang="en-US" sz="1450" dirty="0"/>
          </a:p>
        </p:txBody>
      </p:sp>
      <p:sp>
        <p:nvSpPr>
          <p:cNvPr id="3" name="Text 1"/>
          <p:cNvSpPr/>
          <p:nvPr/>
        </p:nvSpPr>
        <p:spPr>
          <a:xfrm>
            <a:off x="496119" y="765572"/>
            <a:ext cx="8151763" cy="229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spcAft>
                <a:spcPts val="350"/>
              </a:spcAft>
              <a:buNone/>
            </a:pPr>
            <a:r>
              <a:rPr lang="en-US" sz="5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Describe the Streamlit dashboard.</a:t>
            </a:r>
            <a:endParaRPr lang="en-US" sz="550" dirty="0"/>
          </a:p>
          <a:p>
            <a:pPr marL="0" indent="0" algn="l">
              <a:lnSpc>
                <a:spcPct val="102000"/>
              </a:lnSpc>
              <a:buNone/>
            </a:pPr>
            <a:r>
              <a:rPr lang="en-US" sz="5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Include these modules:</a:t>
            </a:r>
            <a:endParaRPr lang="en-US" sz="5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20" y="1039862"/>
            <a:ext cx="1570805" cy="451842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97396" y="1209229"/>
            <a:ext cx="112961" cy="112961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46832" y="1124694"/>
            <a:ext cx="941412" cy="117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Home Dashboard</a:t>
            </a:r>
            <a:endParaRPr lang="en-US" sz="700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CF811B57-8DD2-BB83-A6CF-549C824426A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37419" y="20836"/>
            <a:ext cx="4834981" cy="511859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 descr="preencoded.png">
            <a:extLst>
              <a:ext uri="{FF2B5EF4-FFF2-40B4-BE49-F238E27FC236}">
                <a16:creationId xmlns:a16="http://schemas.microsoft.com/office/drawing/2014/main" id="{92C0582B-5268-04B2-7B83-B56EC66C70F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83914" y="380521"/>
            <a:ext cx="1570807" cy="451842"/>
          </a:xfrm>
          <a:prstGeom prst="rect">
            <a:avLst/>
          </a:prstGeom>
        </p:spPr>
      </p:pic>
      <p:pic>
        <p:nvPicPr>
          <p:cNvPr id="5" name="Image 3" descr="preencoded.png">
            <a:extLst>
              <a:ext uri="{FF2B5EF4-FFF2-40B4-BE49-F238E27FC236}">
                <a16:creationId xmlns:a16="http://schemas.microsoft.com/office/drawing/2014/main" id="{FD393994-ED69-AEDB-8DAE-15B5CEE5515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66114" y="458063"/>
            <a:ext cx="175523" cy="175523"/>
          </a:xfrm>
          <a:prstGeom prst="rect">
            <a:avLst/>
          </a:prstGeom>
        </p:spPr>
      </p:pic>
      <p:sp>
        <p:nvSpPr>
          <p:cNvPr id="7" name="Text 3">
            <a:extLst>
              <a:ext uri="{FF2B5EF4-FFF2-40B4-BE49-F238E27FC236}">
                <a16:creationId xmlns:a16="http://schemas.microsoft.com/office/drawing/2014/main" id="{EB24E2A3-40FF-5D9E-64E5-4EE96447787E}"/>
              </a:ext>
            </a:extLst>
          </p:cNvPr>
          <p:cNvSpPr/>
          <p:nvPr/>
        </p:nvSpPr>
        <p:spPr>
          <a:xfrm>
            <a:off x="772919" y="492110"/>
            <a:ext cx="941412" cy="117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Single Prediction</a:t>
            </a:r>
            <a:endParaRPr lang="en-US" sz="700" dirty="0"/>
          </a:p>
        </p:txBody>
      </p:sp>
      <p:pic>
        <p:nvPicPr>
          <p:cNvPr id="39" name="Image 14" descr="preencoded.png">
            <a:extLst>
              <a:ext uri="{FF2B5EF4-FFF2-40B4-BE49-F238E27FC236}">
                <a16:creationId xmlns:a16="http://schemas.microsoft.com/office/drawing/2014/main" id="{FEE6D7E2-9A2B-5CBC-4E21-3AF69A71C7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426" y="4582344"/>
            <a:ext cx="94134" cy="75307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7C48D0DC-0996-706E-52B0-30615EEA489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18304" y="28352"/>
            <a:ext cx="5405561" cy="5115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90408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4" descr="preencoded.png">
            <a:extLst>
              <a:ext uri="{FF2B5EF4-FFF2-40B4-BE49-F238E27FC236}">
                <a16:creationId xmlns:a16="http://schemas.microsoft.com/office/drawing/2014/main" id="{24F90BFF-F053-3CAA-3B40-C1138B11B1F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6120" y="498500"/>
            <a:ext cx="1570806" cy="451842"/>
          </a:xfrm>
          <a:prstGeom prst="rect">
            <a:avLst/>
          </a:prstGeom>
        </p:spPr>
      </p:pic>
      <p:pic>
        <p:nvPicPr>
          <p:cNvPr id="5" name="Image 5" descr="preencoded.png">
            <a:extLst>
              <a:ext uri="{FF2B5EF4-FFF2-40B4-BE49-F238E27FC236}">
                <a16:creationId xmlns:a16="http://schemas.microsoft.com/office/drawing/2014/main" id="{5211FEA7-9A60-711E-079A-6B588EAA34D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97396" y="667867"/>
            <a:ext cx="112961" cy="112961"/>
          </a:xfrm>
          <a:prstGeom prst="rect">
            <a:avLst/>
          </a:prstGeom>
        </p:spPr>
      </p:pic>
      <p:sp>
        <p:nvSpPr>
          <p:cNvPr id="7" name="Text 4">
            <a:extLst>
              <a:ext uri="{FF2B5EF4-FFF2-40B4-BE49-F238E27FC236}">
                <a16:creationId xmlns:a16="http://schemas.microsoft.com/office/drawing/2014/main" id="{E1754598-B3F3-64BA-935B-C2962A7F8261}"/>
              </a:ext>
            </a:extLst>
          </p:cNvPr>
          <p:cNvSpPr/>
          <p:nvPr/>
        </p:nvSpPr>
        <p:spPr>
          <a:xfrm>
            <a:off x="846832" y="583332"/>
            <a:ext cx="941412" cy="117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Batch Prediction</a:t>
            </a:r>
            <a:endParaRPr lang="en-US" sz="700" dirty="0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79B123D1-2D4F-560F-1A5B-5B8CCBD4EA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65273" y="28352"/>
            <a:ext cx="5738497" cy="5033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34674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Image 6" descr="preencoded.png">
            <a:extLst>
              <a:ext uri="{FF2B5EF4-FFF2-40B4-BE49-F238E27FC236}">
                <a16:creationId xmlns:a16="http://schemas.microsoft.com/office/drawing/2014/main" id="{4046128F-1EE0-ED37-1EB8-7710C358C01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97396" y="498500"/>
            <a:ext cx="1570807" cy="451842"/>
          </a:xfrm>
          <a:prstGeom prst="rect">
            <a:avLst/>
          </a:prstGeom>
        </p:spPr>
      </p:pic>
      <p:pic>
        <p:nvPicPr>
          <p:cNvPr id="29" name="Image 7" descr="preencoded.png">
            <a:extLst>
              <a:ext uri="{FF2B5EF4-FFF2-40B4-BE49-F238E27FC236}">
                <a16:creationId xmlns:a16="http://schemas.microsoft.com/office/drawing/2014/main" id="{FF588945-0A24-B868-B3B8-65EFD24A4D6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8673" y="667866"/>
            <a:ext cx="112961" cy="112961"/>
          </a:xfrm>
          <a:prstGeom prst="rect">
            <a:avLst/>
          </a:prstGeom>
        </p:spPr>
      </p:pic>
      <p:sp>
        <p:nvSpPr>
          <p:cNvPr id="31" name="Text 5">
            <a:extLst>
              <a:ext uri="{FF2B5EF4-FFF2-40B4-BE49-F238E27FC236}">
                <a16:creationId xmlns:a16="http://schemas.microsoft.com/office/drawing/2014/main" id="{A7BD9349-BA9B-A42A-E4DE-E2FCF4538292}"/>
              </a:ext>
            </a:extLst>
          </p:cNvPr>
          <p:cNvSpPr/>
          <p:nvPr/>
        </p:nvSpPr>
        <p:spPr>
          <a:xfrm>
            <a:off x="948109" y="583332"/>
            <a:ext cx="941412" cy="117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Model Leaderboard</a:t>
            </a:r>
            <a:endParaRPr lang="en-US" sz="700" dirty="0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7B187B1C-592A-9249-E94C-77C00E9AB2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17638" y="0"/>
            <a:ext cx="6128966" cy="5061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50541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8" descr="preencoded.png">
            <a:extLst>
              <a:ext uri="{FF2B5EF4-FFF2-40B4-BE49-F238E27FC236}">
                <a16:creationId xmlns:a16="http://schemas.microsoft.com/office/drawing/2014/main" id="{1BA3F56F-72EB-1187-655D-06328627EA0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53876" y="498500"/>
            <a:ext cx="1570807" cy="451842"/>
          </a:xfrm>
          <a:prstGeom prst="rect">
            <a:avLst/>
          </a:prstGeom>
        </p:spPr>
      </p:pic>
      <p:pic>
        <p:nvPicPr>
          <p:cNvPr id="5" name="Image 9" descr="preencoded.png">
            <a:extLst>
              <a:ext uri="{FF2B5EF4-FFF2-40B4-BE49-F238E27FC236}">
                <a16:creationId xmlns:a16="http://schemas.microsoft.com/office/drawing/2014/main" id="{197B191B-4C85-20E0-2AF0-B9A52519334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5153" y="667867"/>
            <a:ext cx="112961" cy="112961"/>
          </a:xfrm>
          <a:prstGeom prst="rect">
            <a:avLst/>
          </a:prstGeom>
        </p:spPr>
      </p:pic>
      <p:sp>
        <p:nvSpPr>
          <p:cNvPr id="7" name="Text 6">
            <a:extLst>
              <a:ext uri="{FF2B5EF4-FFF2-40B4-BE49-F238E27FC236}">
                <a16:creationId xmlns:a16="http://schemas.microsoft.com/office/drawing/2014/main" id="{675B1921-1434-B42C-4CFC-AAF0E5527F7D}"/>
              </a:ext>
            </a:extLst>
          </p:cNvPr>
          <p:cNvSpPr/>
          <p:nvPr/>
        </p:nvSpPr>
        <p:spPr>
          <a:xfrm>
            <a:off x="1004589" y="583332"/>
            <a:ext cx="941412" cy="117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Feature Importance</a:t>
            </a:r>
            <a:endParaRPr lang="en-US" sz="70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11B311F0-38FF-CE0B-4CF5-6111A5C642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34566" y="0"/>
            <a:ext cx="5909434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86121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0" descr="preencoded.png">
            <a:extLst>
              <a:ext uri="{FF2B5EF4-FFF2-40B4-BE49-F238E27FC236}">
                <a16:creationId xmlns:a16="http://schemas.microsoft.com/office/drawing/2014/main" id="{9DA5C83F-BCED-E577-A9FC-2004BE92C6B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97396" y="705542"/>
            <a:ext cx="1570806" cy="451842"/>
          </a:xfrm>
          <a:prstGeom prst="rect">
            <a:avLst/>
          </a:prstGeom>
        </p:spPr>
      </p:pic>
      <p:pic>
        <p:nvPicPr>
          <p:cNvPr id="5" name="Image 11" descr="preencoded.png">
            <a:extLst>
              <a:ext uri="{FF2B5EF4-FFF2-40B4-BE49-F238E27FC236}">
                <a16:creationId xmlns:a16="http://schemas.microsoft.com/office/drawing/2014/main" id="{79DFB405-E69E-422C-39E4-1612E0F1F26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8672" y="874908"/>
            <a:ext cx="112961" cy="112961"/>
          </a:xfrm>
          <a:prstGeom prst="rect">
            <a:avLst/>
          </a:prstGeom>
        </p:spPr>
      </p:pic>
      <p:sp>
        <p:nvSpPr>
          <p:cNvPr id="7" name="Text 7">
            <a:extLst>
              <a:ext uri="{FF2B5EF4-FFF2-40B4-BE49-F238E27FC236}">
                <a16:creationId xmlns:a16="http://schemas.microsoft.com/office/drawing/2014/main" id="{224FE2B2-E00B-A598-77EC-3DE6B5A9A9CC}"/>
              </a:ext>
            </a:extLst>
          </p:cNvPr>
          <p:cNvSpPr/>
          <p:nvPr/>
        </p:nvSpPr>
        <p:spPr>
          <a:xfrm>
            <a:off x="948108" y="790374"/>
            <a:ext cx="941412" cy="117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Forecast</a:t>
            </a:r>
            <a:endParaRPr lang="en-US" sz="7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E9189151-1262-69A4-F709-486F4F9BAF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37334" y="76200"/>
            <a:ext cx="5959834" cy="4887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7228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2" descr="preencoded.png">
            <a:extLst>
              <a:ext uri="{FF2B5EF4-FFF2-40B4-BE49-F238E27FC236}">
                <a16:creationId xmlns:a16="http://schemas.microsoft.com/office/drawing/2014/main" id="{4D4945C6-2F5E-D998-B4E4-13EE0F38F48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6119" y="1105963"/>
            <a:ext cx="1570807" cy="451842"/>
          </a:xfrm>
          <a:prstGeom prst="rect">
            <a:avLst/>
          </a:prstGeom>
        </p:spPr>
      </p:pic>
      <p:pic>
        <p:nvPicPr>
          <p:cNvPr id="5" name="Image 13" descr="preencoded.png">
            <a:extLst>
              <a:ext uri="{FF2B5EF4-FFF2-40B4-BE49-F238E27FC236}">
                <a16:creationId xmlns:a16="http://schemas.microsoft.com/office/drawing/2014/main" id="{F749DB20-A34D-00F6-7CDA-71276DC3712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97396" y="1275330"/>
            <a:ext cx="112961" cy="112961"/>
          </a:xfrm>
          <a:prstGeom prst="rect">
            <a:avLst/>
          </a:prstGeom>
        </p:spPr>
      </p:pic>
      <p:sp>
        <p:nvSpPr>
          <p:cNvPr id="7" name="Text 8">
            <a:extLst>
              <a:ext uri="{FF2B5EF4-FFF2-40B4-BE49-F238E27FC236}">
                <a16:creationId xmlns:a16="http://schemas.microsoft.com/office/drawing/2014/main" id="{88EB0AE0-964A-AF51-F14D-D12378C2D562}"/>
              </a:ext>
            </a:extLst>
          </p:cNvPr>
          <p:cNvSpPr/>
          <p:nvPr/>
        </p:nvSpPr>
        <p:spPr>
          <a:xfrm>
            <a:off x="846832" y="1190795"/>
            <a:ext cx="941412" cy="117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Project Summary</a:t>
            </a:r>
            <a:endParaRPr lang="en-US" sz="7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72BA4C9-BF65-EECB-4E07-27D1D7211E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56114" y="0"/>
            <a:ext cx="589049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85891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281782"/>
            <a:ext cx="40013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REST API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2008287"/>
            <a:ext cx="8151763" cy="6130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250"/>
              </a:spcAft>
              <a:buNone/>
            </a:pPr>
            <a:r>
              <a:rPr lang="en-US" sz="11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Explain FastAPI implementation.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Mention:</a:t>
            </a:r>
            <a:endParaRPr lang="en-US" sz="11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2780854"/>
            <a:ext cx="354360" cy="354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27658" y="2780854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REST API</a:t>
            </a:r>
            <a:endParaRPr lang="en-US" sz="13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72433" y="2780854"/>
            <a:ext cx="354360" cy="3543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803972" y="2780854"/>
            <a:ext cx="2067595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Swagger Documentation</a:t>
            </a:r>
            <a:endParaRPr lang="en-US" sz="13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48747" y="2780854"/>
            <a:ext cx="354360" cy="35436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6580287" y="2780854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Prediction Endpoint</a:t>
            </a:r>
            <a:endParaRPr lang="en-US" sz="13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6119" y="3507284"/>
            <a:ext cx="354360" cy="35436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027658" y="3507284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JSON Response</a:t>
            </a:r>
            <a:endParaRPr lang="en-US" sz="1350" dirty="0"/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272433" y="3507284"/>
            <a:ext cx="354360" cy="354360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3803972" y="3507284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Easy Integration</a:t>
            </a:r>
            <a:endParaRPr lang="en-US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3055"/>
            <a:ext cx="4060924" cy="4291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0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Results &amp; Key Insights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96119" y="1088231"/>
            <a:ext cx="8608963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Highlight: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496119" y="1454200"/>
            <a:ext cx="308967" cy="308967"/>
          </a:xfrm>
          <a:prstGeom prst="roundRect">
            <a:avLst>
              <a:gd name="adj" fmla="val 18669"/>
            </a:avLst>
          </a:prstGeom>
          <a:solidFill>
            <a:srgbClr val="3D3D42"/>
          </a:solidFill>
          <a:ln w="4763">
            <a:solidFill>
              <a:srgbClr val="56565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938064" y="1501378"/>
            <a:ext cx="4012853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Random Forest achieved the highest accuracy.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96119" y="2029197"/>
            <a:ext cx="308967" cy="308967"/>
          </a:xfrm>
          <a:prstGeom prst="roundRect">
            <a:avLst>
              <a:gd name="adj" fmla="val 18669"/>
            </a:avLst>
          </a:prstGeom>
          <a:solidFill>
            <a:srgbClr val="3D3D42"/>
          </a:solidFill>
          <a:ln w="4763">
            <a:solidFill>
              <a:srgbClr val="56565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938064" y="2076376"/>
            <a:ext cx="5176168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Feature Engineering significantly improved prediction quality.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96119" y="2604195"/>
            <a:ext cx="308967" cy="308967"/>
          </a:xfrm>
          <a:prstGeom prst="roundRect">
            <a:avLst>
              <a:gd name="adj" fmla="val 18669"/>
            </a:avLst>
          </a:prstGeom>
          <a:solidFill>
            <a:srgbClr val="3D3D42"/>
          </a:solidFill>
          <a:ln w="4763">
            <a:solidFill>
              <a:srgbClr val="56565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938064" y="2651373"/>
            <a:ext cx="4468267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Prophet successfully modeled future weather trends.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96119" y="3179192"/>
            <a:ext cx="308967" cy="308967"/>
          </a:xfrm>
          <a:prstGeom prst="roundRect">
            <a:avLst>
              <a:gd name="adj" fmla="val 18669"/>
            </a:avLst>
          </a:prstGeom>
          <a:solidFill>
            <a:srgbClr val="3D3D42"/>
          </a:solidFill>
          <a:ln w="4763">
            <a:solidFill>
              <a:srgbClr val="56565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938064" y="3226371"/>
            <a:ext cx="4190628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Interactive Dashboard enables easy visualization.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96119" y="3754189"/>
            <a:ext cx="308967" cy="308967"/>
          </a:xfrm>
          <a:prstGeom prst="roundRect">
            <a:avLst>
              <a:gd name="adj" fmla="val 18669"/>
            </a:avLst>
          </a:prstGeom>
          <a:solidFill>
            <a:srgbClr val="3D3D42"/>
          </a:solidFill>
          <a:ln w="4763">
            <a:solidFill>
              <a:srgbClr val="56565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938064" y="3801368"/>
            <a:ext cx="4620816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FastAPI provides production-ready prediction services.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496119" y="4212803"/>
            <a:ext cx="8151763" cy="537642"/>
          </a:xfrm>
          <a:prstGeom prst="roundRect">
            <a:avLst>
              <a:gd name="adj" fmla="val 10729"/>
            </a:avLst>
          </a:prstGeom>
          <a:solidFill>
            <a:srgbClr val="3D3D42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3" y="4407098"/>
            <a:ext cx="171599" cy="137294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942305" y="4380086"/>
            <a:ext cx="8025482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Mention this demonstrates an end-to-end machine learning deployment workflow.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35248"/>
            <a:ext cx="2672283" cy="2768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Conclusion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496119" y="822871"/>
            <a:ext cx="8151763" cy="2926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spcAft>
                <a:spcPts val="450"/>
              </a:spcAft>
              <a:buNone/>
            </a:pPr>
            <a:r>
              <a:rPr lang="en-US" sz="6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Summarize:</a:t>
            </a:r>
            <a:endParaRPr lang="en-US" sz="6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6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WeatherTrendAI demonstrates practical skills in:</a:t>
            </a:r>
            <a:endParaRPr lang="en-US" sz="650" dirty="0"/>
          </a:p>
        </p:txBody>
      </p:sp>
      <p:sp>
        <p:nvSpPr>
          <p:cNvPr id="4" name="Shape 2"/>
          <p:cNvSpPr/>
          <p:nvPr/>
        </p:nvSpPr>
        <p:spPr>
          <a:xfrm>
            <a:off x="496119" y="1177826"/>
            <a:ext cx="4048199" cy="646212"/>
          </a:xfrm>
          <a:prstGeom prst="roundRect">
            <a:avLst>
              <a:gd name="adj" fmla="val 5759"/>
            </a:avLst>
          </a:prstGeom>
          <a:solidFill>
            <a:srgbClr val="3D3D42"/>
          </a:solidFill>
          <a:ln w="4763">
            <a:solidFill>
              <a:srgbClr val="56565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589434" y="1271141"/>
            <a:ext cx="265807" cy="265807"/>
          </a:xfrm>
          <a:prstGeom prst="ellipse">
            <a:avLst/>
          </a:prstGeom>
          <a:solidFill>
            <a:srgbClr val="F2F2F3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2508" y="1344216"/>
            <a:ext cx="119583" cy="11958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89434" y="1592312"/>
            <a:ext cx="1107504" cy="138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Data Science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4599682" y="1177826"/>
            <a:ext cx="4048199" cy="646212"/>
          </a:xfrm>
          <a:prstGeom prst="roundRect">
            <a:avLst>
              <a:gd name="adj" fmla="val 5759"/>
            </a:avLst>
          </a:prstGeom>
          <a:solidFill>
            <a:srgbClr val="3D3D42"/>
          </a:solidFill>
          <a:ln w="4763">
            <a:solidFill>
              <a:srgbClr val="56565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Shape 6"/>
          <p:cNvSpPr/>
          <p:nvPr/>
        </p:nvSpPr>
        <p:spPr>
          <a:xfrm>
            <a:off x="4692997" y="1271141"/>
            <a:ext cx="265807" cy="265807"/>
          </a:xfrm>
          <a:prstGeom prst="ellipse">
            <a:avLst/>
          </a:prstGeom>
          <a:solidFill>
            <a:srgbClr val="F2F2F3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66072" y="1344216"/>
            <a:ext cx="119583" cy="119583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692997" y="1592312"/>
            <a:ext cx="1107504" cy="138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Machine Learning</a:t>
            </a:r>
            <a:endParaRPr lang="en-US" sz="850" dirty="0"/>
          </a:p>
        </p:txBody>
      </p:sp>
      <p:sp>
        <p:nvSpPr>
          <p:cNvPr id="12" name="Shape 8"/>
          <p:cNvSpPr/>
          <p:nvPr/>
        </p:nvSpPr>
        <p:spPr>
          <a:xfrm>
            <a:off x="496119" y="1879402"/>
            <a:ext cx="4048199" cy="646212"/>
          </a:xfrm>
          <a:prstGeom prst="roundRect">
            <a:avLst>
              <a:gd name="adj" fmla="val 5759"/>
            </a:avLst>
          </a:prstGeom>
          <a:solidFill>
            <a:srgbClr val="3D3D42"/>
          </a:solidFill>
          <a:ln w="4763">
            <a:solidFill>
              <a:srgbClr val="56565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Shape 9"/>
          <p:cNvSpPr/>
          <p:nvPr/>
        </p:nvSpPr>
        <p:spPr>
          <a:xfrm>
            <a:off x="589434" y="1972717"/>
            <a:ext cx="265807" cy="265807"/>
          </a:xfrm>
          <a:prstGeom prst="ellipse">
            <a:avLst/>
          </a:prstGeom>
          <a:solidFill>
            <a:srgbClr val="F2F2F3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2508" y="2045791"/>
            <a:ext cx="119583" cy="119583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89434" y="2293888"/>
            <a:ext cx="1107504" cy="138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Feature Engineering</a:t>
            </a:r>
            <a:endParaRPr lang="en-US" sz="850" dirty="0"/>
          </a:p>
        </p:txBody>
      </p:sp>
      <p:sp>
        <p:nvSpPr>
          <p:cNvPr id="16" name="Shape 11"/>
          <p:cNvSpPr/>
          <p:nvPr/>
        </p:nvSpPr>
        <p:spPr>
          <a:xfrm>
            <a:off x="4599682" y="1879402"/>
            <a:ext cx="4048199" cy="646212"/>
          </a:xfrm>
          <a:prstGeom prst="roundRect">
            <a:avLst>
              <a:gd name="adj" fmla="val 5759"/>
            </a:avLst>
          </a:prstGeom>
          <a:solidFill>
            <a:srgbClr val="3D3D42"/>
          </a:solidFill>
          <a:ln w="4763">
            <a:solidFill>
              <a:srgbClr val="56565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Shape 12"/>
          <p:cNvSpPr/>
          <p:nvPr/>
        </p:nvSpPr>
        <p:spPr>
          <a:xfrm>
            <a:off x="4692997" y="1972717"/>
            <a:ext cx="265807" cy="265807"/>
          </a:xfrm>
          <a:prstGeom prst="ellipse">
            <a:avLst/>
          </a:prstGeom>
          <a:solidFill>
            <a:srgbClr val="F2F2F3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766072" y="2045791"/>
            <a:ext cx="119583" cy="119583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4692997" y="2293888"/>
            <a:ext cx="1292051" cy="138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Time Series Forecasting</a:t>
            </a:r>
            <a:endParaRPr lang="en-US" sz="850" dirty="0"/>
          </a:p>
        </p:txBody>
      </p:sp>
      <p:sp>
        <p:nvSpPr>
          <p:cNvPr id="20" name="Shape 14"/>
          <p:cNvSpPr/>
          <p:nvPr/>
        </p:nvSpPr>
        <p:spPr>
          <a:xfrm>
            <a:off x="496119" y="2580977"/>
            <a:ext cx="4048199" cy="646212"/>
          </a:xfrm>
          <a:prstGeom prst="roundRect">
            <a:avLst>
              <a:gd name="adj" fmla="val 5759"/>
            </a:avLst>
          </a:prstGeom>
          <a:solidFill>
            <a:srgbClr val="3D3D42"/>
          </a:solidFill>
          <a:ln w="4763">
            <a:solidFill>
              <a:srgbClr val="56565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Shape 15"/>
          <p:cNvSpPr/>
          <p:nvPr/>
        </p:nvSpPr>
        <p:spPr>
          <a:xfrm>
            <a:off x="589434" y="2674293"/>
            <a:ext cx="265807" cy="265807"/>
          </a:xfrm>
          <a:prstGeom prst="ellipse">
            <a:avLst/>
          </a:prstGeom>
          <a:solidFill>
            <a:srgbClr val="F2F2F3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2508" y="2747367"/>
            <a:ext cx="119583" cy="119583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589434" y="2995464"/>
            <a:ext cx="1107504" cy="138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API Development</a:t>
            </a:r>
            <a:endParaRPr lang="en-US" sz="850" dirty="0"/>
          </a:p>
        </p:txBody>
      </p:sp>
      <p:sp>
        <p:nvSpPr>
          <p:cNvPr id="24" name="Shape 17"/>
          <p:cNvSpPr/>
          <p:nvPr/>
        </p:nvSpPr>
        <p:spPr>
          <a:xfrm>
            <a:off x="4599682" y="2580977"/>
            <a:ext cx="4048199" cy="646212"/>
          </a:xfrm>
          <a:prstGeom prst="roundRect">
            <a:avLst>
              <a:gd name="adj" fmla="val 5759"/>
            </a:avLst>
          </a:prstGeom>
          <a:solidFill>
            <a:srgbClr val="3D3D42"/>
          </a:solidFill>
          <a:ln w="4763">
            <a:solidFill>
              <a:srgbClr val="56565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Shape 18"/>
          <p:cNvSpPr/>
          <p:nvPr/>
        </p:nvSpPr>
        <p:spPr>
          <a:xfrm>
            <a:off x="4692997" y="2674293"/>
            <a:ext cx="265807" cy="265807"/>
          </a:xfrm>
          <a:prstGeom prst="ellipse">
            <a:avLst/>
          </a:prstGeom>
          <a:solidFill>
            <a:srgbClr val="F2F2F3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766072" y="2747367"/>
            <a:ext cx="119583" cy="119583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4692997" y="2995464"/>
            <a:ext cx="1384474" cy="138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Dashboard Development</a:t>
            </a:r>
            <a:endParaRPr lang="en-US" sz="850" dirty="0"/>
          </a:p>
        </p:txBody>
      </p:sp>
      <p:sp>
        <p:nvSpPr>
          <p:cNvPr id="28" name="Shape 20"/>
          <p:cNvSpPr/>
          <p:nvPr/>
        </p:nvSpPr>
        <p:spPr>
          <a:xfrm>
            <a:off x="496119" y="3282553"/>
            <a:ext cx="4048199" cy="646212"/>
          </a:xfrm>
          <a:prstGeom prst="roundRect">
            <a:avLst>
              <a:gd name="adj" fmla="val 5759"/>
            </a:avLst>
          </a:prstGeom>
          <a:solidFill>
            <a:srgbClr val="3D3D42"/>
          </a:solidFill>
          <a:ln w="4763">
            <a:solidFill>
              <a:srgbClr val="56565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9" name="Shape 21"/>
          <p:cNvSpPr/>
          <p:nvPr/>
        </p:nvSpPr>
        <p:spPr>
          <a:xfrm>
            <a:off x="589434" y="3375868"/>
            <a:ext cx="265807" cy="265807"/>
          </a:xfrm>
          <a:prstGeom prst="ellipse">
            <a:avLst/>
          </a:prstGeom>
          <a:solidFill>
            <a:srgbClr val="F2F2F3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30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62508" y="3448943"/>
            <a:ext cx="119583" cy="119583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589434" y="3697039"/>
            <a:ext cx="1158180" cy="138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Software Engineering</a:t>
            </a:r>
            <a:endParaRPr lang="en-US" sz="850" dirty="0"/>
          </a:p>
        </p:txBody>
      </p:sp>
      <p:sp>
        <p:nvSpPr>
          <p:cNvPr id="32" name="Shape 23"/>
          <p:cNvSpPr/>
          <p:nvPr/>
        </p:nvSpPr>
        <p:spPr>
          <a:xfrm>
            <a:off x="4599682" y="3282553"/>
            <a:ext cx="4048199" cy="646212"/>
          </a:xfrm>
          <a:prstGeom prst="roundRect">
            <a:avLst>
              <a:gd name="adj" fmla="val 5759"/>
            </a:avLst>
          </a:prstGeom>
          <a:solidFill>
            <a:srgbClr val="3D3D42"/>
          </a:solidFill>
          <a:ln w="4763">
            <a:solidFill>
              <a:srgbClr val="56565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3" name="Shape 24"/>
          <p:cNvSpPr/>
          <p:nvPr/>
        </p:nvSpPr>
        <p:spPr>
          <a:xfrm>
            <a:off x="4692997" y="3375868"/>
            <a:ext cx="265807" cy="265807"/>
          </a:xfrm>
          <a:prstGeom prst="ellipse">
            <a:avLst/>
          </a:prstGeom>
          <a:solidFill>
            <a:srgbClr val="F2F2F3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34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766072" y="3448943"/>
            <a:ext cx="119583" cy="119583"/>
          </a:xfrm>
          <a:prstGeom prst="rect">
            <a:avLst/>
          </a:prstGeom>
        </p:spPr>
      </p:pic>
      <p:sp>
        <p:nvSpPr>
          <p:cNvPr id="35" name="Text 25"/>
          <p:cNvSpPr/>
          <p:nvPr/>
        </p:nvSpPr>
        <p:spPr>
          <a:xfrm>
            <a:off x="4692997" y="3697039"/>
            <a:ext cx="1107504" cy="138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Model Deployment</a:t>
            </a:r>
            <a:endParaRPr lang="en-US" sz="850" dirty="0"/>
          </a:p>
        </p:txBody>
      </p:sp>
      <p:sp>
        <p:nvSpPr>
          <p:cNvPr id="36" name="Shape 26"/>
          <p:cNvSpPr/>
          <p:nvPr/>
        </p:nvSpPr>
        <p:spPr>
          <a:xfrm>
            <a:off x="496119" y="4013150"/>
            <a:ext cx="8151763" cy="9525"/>
          </a:xfrm>
          <a:prstGeom prst="roundRect">
            <a:avLst>
              <a:gd name="adj" fmla="val 60000"/>
            </a:avLst>
          </a:prstGeom>
          <a:solidFill>
            <a:srgbClr val="E5E0DF">
              <a:alpha val="50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7" name="Text 27"/>
          <p:cNvSpPr/>
          <p:nvPr/>
        </p:nvSpPr>
        <p:spPr>
          <a:xfrm>
            <a:off x="496119" y="4127822"/>
            <a:ext cx="3514055" cy="382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Thank You</a:t>
            </a:r>
            <a:endParaRPr lang="en-US" sz="2400" dirty="0"/>
          </a:p>
        </p:txBody>
      </p:sp>
      <p:sp>
        <p:nvSpPr>
          <p:cNvPr id="38" name="Text 28"/>
          <p:cNvSpPr/>
          <p:nvPr/>
        </p:nvSpPr>
        <p:spPr>
          <a:xfrm>
            <a:off x="496119" y="4592985"/>
            <a:ext cx="8608963" cy="115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6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GitHub: </a:t>
            </a:r>
            <a:r>
              <a:rPr lang="en-US" sz="650" b="1" u="sng" dirty="0">
                <a:solidFill>
                  <a:srgbClr val="F2F2F3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  <a:hlinkClick r:id="rId1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https://github.com/ns-niam/WeatherTrendAI</a:t>
            </a:r>
            <a:endParaRPr lang="en-US" sz="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29AF8C"/>
      </a:accent1>
      <a:accent2>
        <a:srgbClr val="97BE49"/>
      </a:accent2>
      <a:accent3>
        <a:srgbClr val="3D9CCC"/>
      </a:accent3>
      <a:accent4>
        <a:srgbClr val="7C60C6"/>
      </a:accent4>
      <a:accent5>
        <a:srgbClr val="C9492C"/>
      </a:accent5>
      <a:accent6>
        <a:srgbClr val="D58C2E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3E4F19A7-A959-40BB-972C-4880BAF8EB0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19</TotalTime>
  <Words>368</Words>
  <Application>Microsoft Office PowerPoint</Application>
  <PresentationFormat>On-screen Show (16:9)</PresentationFormat>
  <Paragraphs>105</Paragraphs>
  <Slides>16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Arial</vt:lpstr>
      <vt:lpstr>Roboto Light</vt:lpstr>
      <vt:lpstr>Calibri</vt:lpstr>
      <vt:lpstr>Calibri Light</vt:lpstr>
      <vt:lpstr>Roboto Bold</vt:lpstr>
      <vt:lpstr>Poppins Light</vt:lpstr>
      <vt:lpstr>Office 2013 - 2022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Niam Ahmed</cp:lastModifiedBy>
  <cp:revision>2</cp:revision>
  <dcterms:created xsi:type="dcterms:W3CDTF">2026-07-06T16:34:48Z</dcterms:created>
  <dcterms:modified xsi:type="dcterms:W3CDTF">2026-07-06T16:56:50Z</dcterms:modified>
</cp:coreProperties>
</file>